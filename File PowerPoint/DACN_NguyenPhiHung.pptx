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72" r:id="rId6"/>
    <p:sldId id="273" r:id="rId7"/>
    <p:sldId id="274" r:id="rId8"/>
    <p:sldId id="275" r:id="rId9"/>
    <p:sldId id="276" r:id="rId10"/>
    <p:sldId id="277" r:id="rId11"/>
    <p:sldId id="278" r:id="rId12"/>
    <p:sldId id="287" r:id="rId13"/>
    <p:sldId id="286" r:id="rId14"/>
    <p:sldId id="281" r:id="rId15"/>
    <p:sldId id="288" r:id="rId16"/>
    <p:sldId id="289" r:id="rId17"/>
    <p:sldId id="290" r:id="rId18"/>
    <p:sldId id="291" r:id="rId19"/>
    <p:sldId id="292" r:id="rId20"/>
    <p:sldId id="282" r:id="rId21"/>
    <p:sldId id="293" r:id="rId22"/>
    <p:sldId id="294" r:id="rId23"/>
    <p:sldId id="283" r:id="rId24"/>
    <p:sldId id="295" r:id="rId25"/>
    <p:sldId id="28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0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0FA47-8B15-437F-B746-4611B2E50E7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C3B5-3211-45B9-A75F-21C4D8AB734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471"/>
            <a:ext cx="9144000" cy="5715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896533"/>
            <a:ext cx="9144000" cy="89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43599"/>
            <a:ext cx="9144000" cy="91440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8425" y="4816475"/>
            <a:ext cx="3310890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sz="2000" b="1" dirty="0">
                <a:latin typeface="Times New Roman" panose="02020603050405020304" charset="0"/>
                <a:cs typeface="Times New Roman" panose="02020603050405020304" charset="0"/>
              </a:rPr>
              <a:t>Giảng viên hướng dẫn:</a:t>
            </a:r>
            <a:endParaRPr lang="vi-VN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vi-VN" sz="2000" dirty="0">
                <a:latin typeface="Times New Roman" panose="02020603050405020304" charset="0"/>
                <a:cs typeface="Times New Roman" panose="02020603050405020304" charset="0"/>
              </a:rPr>
              <a:t>Ths.Phạm Thị Trúc Mai</a:t>
            </a:r>
            <a:endParaRPr lang="vi-VN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itle 3"/>
          <p:cNvSpPr/>
          <p:nvPr>
            <p:ph type="ctrTitle"/>
          </p:nvPr>
        </p:nvSpPr>
        <p:spPr>
          <a:xfrm>
            <a:off x="627380" y="3133090"/>
            <a:ext cx="7772400" cy="1176655"/>
          </a:xfrm>
        </p:spPr>
        <p:txBody>
          <a:bodyPr>
            <a:normAutofit/>
          </a:bodyPr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Y DỰNG WEBSITE HỌC TIẾNG ANH</a:t>
            </a:r>
            <a:b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BẰNG FLASHCARD KẾT HỢP LUYỆN N</a:t>
            </a: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Ó</a:t>
            </a: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758825" y="97155"/>
            <a:ext cx="7809230" cy="13017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2400">
                <a:solidFill>
                  <a:srgbClr val="3135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KHOA KỸ THUẬT VÀ CÔNG NGHỆ</a:t>
            </a:r>
            <a:endParaRPr lang="en-US" sz="2400">
              <a:solidFill>
                <a:srgbClr val="31356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110000"/>
              </a:lnSpc>
            </a:pPr>
            <a:r>
              <a:rPr lang="en-US" sz="2400" b="1">
                <a:solidFill>
                  <a:srgbClr val="31356E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BỘ MÔN CÔNG NGHỆ THÔNG TIN</a:t>
            </a:r>
            <a:endParaRPr lang="en-US" sz="2400" b="1">
              <a:solidFill>
                <a:srgbClr val="31356E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  <a:p>
            <a:pPr algn="l">
              <a:lnSpc>
                <a:spcPts val="4795"/>
              </a:lnSpc>
            </a:pPr>
            <a:endParaRPr sz="2400"/>
          </a:p>
        </p:txBody>
      </p:sp>
      <p:grpSp>
        <p:nvGrpSpPr>
          <p:cNvPr id="10" name="Group 2"/>
          <p:cNvGrpSpPr/>
          <p:nvPr/>
        </p:nvGrpSpPr>
        <p:grpSpPr>
          <a:xfrm rot="0">
            <a:off x="3856355" y="1025525"/>
            <a:ext cx="1260000" cy="1260000"/>
            <a:chOff x="0" y="0"/>
            <a:chExt cx="13716000" cy="13716000"/>
          </a:xfrm>
        </p:grpSpPr>
        <p:sp>
          <p:nvSpPr>
            <p:cNvPr id="11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1418" r="-1418"/>
              </a:stretch>
            </a:blipFill>
          </p:spPr>
        </p:sp>
      </p:grpSp>
      <p:sp>
        <p:nvSpPr>
          <p:cNvPr id="12" name="TextBox 6"/>
          <p:cNvSpPr txBox="1"/>
          <p:nvPr/>
        </p:nvSpPr>
        <p:spPr>
          <a:xfrm>
            <a:off x="627380" y="2380615"/>
            <a:ext cx="7745730" cy="82931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2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THỰC TẬP ĐỒ ÁN </a:t>
            </a:r>
            <a:r>
              <a:rPr lang="vi-VN" altLang="en-US" sz="2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CHUYÊN</a:t>
            </a:r>
            <a:r>
              <a:rPr lang="en-US" sz="2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NGÀNH</a:t>
            </a:r>
            <a:endParaRPr lang="en-US" sz="240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110000"/>
              </a:lnSpc>
            </a:pPr>
            <a:r>
              <a:rPr lang="en-US" sz="2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HỌC KỲ I, NĂM HỌC 202</a:t>
            </a:r>
            <a:r>
              <a:rPr lang="vi-VN" altLang="en-US" sz="2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r>
              <a:rPr lang="en-US" sz="2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-202</a:t>
            </a:r>
            <a:r>
              <a:rPr lang="vi-VN" altLang="en-US" sz="24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endParaRPr lang="vi-VN" altLang="en-US" sz="240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TextBox 8"/>
          <p:cNvSpPr txBox="1"/>
          <p:nvPr/>
        </p:nvSpPr>
        <p:spPr>
          <a:xfrm>
            <a:off x="5703570" y="4517390"/>
            <a:ext cx="2864485" cy="123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chemeClr val="tx1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Sinh viên thực hiện:</a:t>
            </a:r>
            <a:endParaRPr lang="en-US" sz="2000" b="1">
              <a:solidFill>
                <a:schemeClr val="tx1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  <a:p>
            <a:pPr algn="l">
              <a:lnSpc>
                <a:spcPct val="10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Họ tên: Nguyễn Phi Hùng</a:t>
            </a:r>
            <a:endParaRPr lang="en-US" sz="200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ct val="10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MSSV: 110122079</a:t>
            </a:r>
            <a:endParaRPr lang="en-US" sz="200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ct val="10000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Lớp: DA22TTD</a:t>
            </a:r>
            <a:endParaRPr lang="en-US" sz="200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Ý DO CHỌN ĐỀ TÀI</a:t>
            </a:r>
            <a:endParaRPr lang="vi-VN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" y="975360"/>
            <a:ext cx="8229600" cy="5225415"/>
          </a:xfrm>
        </p:spPr>
        <p:txBody>
          <a:bodyPr>
            <a:noAutofit/>
          </a:bodyPr>
          <a:lstStyle/>
          <a:p>
            <a:pPr marL="0" indent="4572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Trong bối cảnh hội nhập quốc tế và sự phát triển mạnh mẽ của công nghệ thông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tin, tiếng Anh ngày càng trở thành một công cụ quan trọng trong học tập, công việc và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giao tiếp. Tuy nhiên, việc học từ vựng và r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 luyện kỹ n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nói tiếng Anh vẫn là một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khó kh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ối với nhiều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học,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ặc biệt là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mới bắt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ầu hoặc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không có nhiều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iều kiện tiếp xúc với môi tr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ờng giao tiếp tiếng Anh th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ờng xuyên. 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Xuất phát từ thực tế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ó,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ề tài “Xây dựng Website học tiếng Anh bằng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Flashcard kết hợp luyện nói”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ợc lựa chọn nhằm hỗ trợ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 tiếp cận tiếng Anh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một cách trực quan, hiệu quả và thuận tiện hơn. Ph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ơng pháp học bằng flashcard giúp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 ghi nhớ từ vựng nhanh chóng thông qua việc lặp lại và liên kết hình ảnh, trong khi chức n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luyện nói giúp cải thiện phát âm và t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khả n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phản xạ ngôn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ngữ. 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203"/>
            <a:ext cx="8229600" cy="507240"/>
          </a:xfrm>
        </p:spPr>
        <p:txBody>
          <a:bodyPr/>
          <a:lstStyle/>
          <a:p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</a:rPr>
              <a:t>MỤC ĐÍCH NGHIÊN CỨU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6480"/>
            <a:ext cx="8229600" cy="5186680"/>
          </a:xfrm>
        </p:spPr>
        <p:txBody>
          <a:bodyPr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Mục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ích của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ề tài là xây dựng một website hỗ trợ học tiếng Anh, trong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ó tập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trung vào: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- Giúp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 ghi nhớ và mở rộng vốn từ vựng thông qua hệ thống flashcard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ợc thiết kế khoa học.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- Hỗ trợ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 hiểu cách sử dụng từ trong ngữ cảnh thông qua ví dụ minh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họa. 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- Cung cấp chức n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luyện nói nhằm nâng cao khả n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phát âm và phản xạ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giao tiếp tiếng Anh. 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- Tạo ra một môi tr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ờng học tập trực tuyến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ơn giản, dễ sử dụng và phù hợp với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nhiều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ối t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ợng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</a:rPr>
              <a:t>ĐỐI TƯỢNG NGHIÊN CỨU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457200" y="1005205"/>
            <a:ext cx="8229600" cy="5121275"/>
          </a:xfrm>
        </p:spPr>
        <p:txBody>
          <a:bodyPr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- Quy trình và ph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ơng pháp học từ vựng tiếng Anh bằng flashcard.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- Các chức n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ng nghiệp vụ của một hệ thống web hỗ trợ học tiếng Anh, bao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gồm học từ vựng và luyện nói. 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- Ng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ời dùng là học sinh, sinh viên hoặc ng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ời mới bắt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ầu học tiếng Anh có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nhu cầu tự học trực tuyến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</a:rPr>
              <a:t>PHẠM VI NGHIÊN CỨU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Trong phạm vi của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ồ án chuyên ngành,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ề tài tập trung vào: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- Xây dựng website học tiếng Anh với các chức n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ng chính nh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ng nhập, học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từ vựng bằng flashcard, luyện nói và quản l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hồ sơ ng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ời dùng. 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endParaRPr lang="vi-VN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- Nội dung học tập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ợc chia theo các cấp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ộ từ cơ bản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ến nâng cao, không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sâu vào các kỹ n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ng chuyên sâu nh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viết học thuật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, y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ếu tố gamification hoặc luyện thi chứng chỉ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quốc tế. 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- Hệ thống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ợc triển khai và chạy thử nghiệm trong môi tr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ờng cục bộ, phục</a:t>
            </a:r>
            <a:r>
              <a:rPr lang="vi-VN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vụ mục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ích học tập và nghiên cứu.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710"/>
            <a:ext cx="8229600" cy="709930"/>
          </a:xfrm>
        </p:spPr>
        <p:txBody>
          <a:bodyPr/>
          <a:lstStyle/>
          <a:p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</a:rPr>
              <a:t>TỔNG QUAN VỀ PHƯƠNG PHÁP HỌC TỪ VỰNG BẰNG 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</a:rPr>
              <a:t>FLASHCARD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5860"/>
            <a:ext cx="4342130" cy="4984750"/>
          </a:xfrm>
        </p:spPr>
        <p:txBody>
          <a:bodyPr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Flashcard là một công cụ học tập d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ới dạng thẻ nhỏ, có hai mặt: một mặt ghi câu hỏi/từ vựng và mặt kia ghi câu trả lời/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ịnh ngh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ĩ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a,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phương pháp học từ vựng bằng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Flashcard cho phép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 tiếp cận từ vựng theo từng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ơn vị nhỏ, giúp việc ghi nhớ trở nên dễ dàng hơn thông qua sự lặp lại và liên kết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thông tin. Việc kết hợp flashcard với ví dụ minh họa giúp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 không chỉ ghi nhớ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ngh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ĩ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a của từ mà còn hiểu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ợc cách sử dụng từ trong ngữ cảnh thực tế. 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265" y="1233170"/>
            <a:ext cx="1951355" cy="26466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555" y="1233170"/>
            <a:ext cx="2036445" cy="2698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3665"/>
            <a:ext cx="8229600" cy="765175"/>
          </a:xfrm>
        </p:spPr>
        <p:txBody>
          <a:bodyPr/>
          <a:lstStyle/>
          <a:p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</a:rPr>
              <a:t>TỔNG QUAN VỀ</a:t>
            </a: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</a:rPr>
              <a:t>LUYỆN NÓI TRONG VIỆC HỌC TIẾNG ANH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8555"/>
            <a:ext cx="8229600" cy="4689475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Việc tích hợp chức n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luyện nói vào hệ thống học tiếng Anh trực tuyến giúp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 có thể luyện tập phát âm và phản xạ nói mọi lúc, mọi nơi. Thông qua các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bài luyện nói, ng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ời học có thể dần cải thiện khả n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phát âm, làm quen với ngữ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iệu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và t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ng sự tự tin khi giao tiếp bằng tiếng Anh</a:t>
            </a:r>
            <a:r>
              <a:rPr lang="vi-VN" altLang="en-US" sz="18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vi-VN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CÁC CÔNG NGHỆ LẬP TRÌNH SỬ DỤNG</a:t>
            </a:r>
            <a:endParaRPr lang="vi-VN" alt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290" y="1165860"/>
            <a:ext cx="8176895" cy="4526280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vi-VN" altLang="en-US" sz="2000" b="1" dirty="0">
                <a:latin typeface="Times New Roman" panose="02020603050405020304" charset="0"/>
                <a:cs typeface="Times New Roman" panose="02020603050405020304" charset="0"/>
              </a:rPr>
              <a:t>Frontend</a:t>
            </a:r>
            <a:endParaRPr lang="vi-VN" altLang="en-US" sz="2000" dirty="0"/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endParaRPr lang="vi-VN" altLang="en-US" sz="2000" dirty="0"/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endParaRPr lang="vi-VN" altLang="en-US" sz="2000" dirty="0"/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endParaRPr lang="vi-VN" altLang="en-US" sz="2000" dirty="0"/>
          </a:p>
        </p:txBody>
      </p:sp>
      <p:pic>
        <p:nvPicPr>
          <p:cNvPr id="9" name="Content Placeholder 6" descr="download (1)"/>
          <p:cNvPicPr>
            <a:picLocks noChangeAspect="1"/>
          </p:cNvPicPr>
          <p:nvPr/>
        </p:nvPicPr>
        <p:blipFill>
          <a:blip r:embed="rId1"/>
          <a:srcRect l="25017" r="25017"/>
          <a:stretch>
            <a:fillRect/>
          </a:stretch>
        </p:blipFill>
        <p:spPr>
          <a:xfrm>
            <a:off x="1127760" y="2186940"/>
            <a:ext cx="1796415" cy="201358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42290" y="4305300"/>
            <a:ext cx="3115945" cy="172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ReactJS là một th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viện JavaScript mã nguồn mở do Facebook phát triển,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ợc</a:t>
            </a:r>
            <a:r>
              <a:rPr lang="vi-VN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sử dụng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ể xây dựng giao diện 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ời dùng cho các ứng dụng web.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Picture 10" descr="download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975" y="2300605"/>
            <a:ext cx="3949700" cy="127063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5066030" y="3721100"/>
            <a:ext cx="36207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Web Speech API là một API chuẩn của trình duyệt, cho phép tích hợp các chức</a:t>
            </a:r>
            <a:r>
              <a:rPr lang="vi-VN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nhận diện giọng nói và tổng hợp giọng nói vào ứng dụng web. API này giúp</a:t>
            </a:r>
            <a:r>
              <a:rPr lang="vi-VN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chuyển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ổi giọng nói 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ời dùng thành v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 bản, hỗ trợ xây dựng các chức 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luyện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nói và giao tiếp bằng giọng nói.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638800" y="17138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Web speech </a:t>
            </a:r>
            <a:r>
              <a:rPr lang="vi-VN" altLang="en-US"/>
              <a:t>API</a:t>
            </a:r>
            <a:endParaRPr lang="vi-V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CÁC CÔNG NGHỆ LẬP TRÌNH SỬ DỤNG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8412"/>
            <a:ext cx="8229600" cy="4831422"/>
          </a:xfrm>
        </p:spPr>
        <p:txBody>
          <a:bodyPr/>
          <a:lstStyle/>
          <a:p>
            <a:r>
              <a:rPr lang="vi-VN" sz="2000" b="1" dirty="0">
                <a:latin typeface="Times New Roman" panose="02020603050405020304" charset="0"/>
                <a:cs typeface="Times New Roman" panose="02020603050405020304" charset="0"/>
              </a:rPr>
              <a:t>Backend</a:t>
            </a:r>
            <a:endParaRPr lang="vi-VN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r>
              <a:rPr lang="vi-VN" sz="2000" b="1" dirty="0"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endParaRPr lang="vi-VN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vi-VN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 descr="download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545" y="1678305"/>
            <a:ext cx="1822450" cy="11176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27100" y="2795905"/>
            <a:ext cx="25158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Node.js là môi tr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ờng chạy JavaScript phía máy chủ, cho phép xây dựng các</a:t>
            </a:r>
            <a:r>
              <a:rPr lang="vi-VN" alt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ứng dụng web có khả n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ng xử l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nhiều yêu cầu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ồng thời.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 descr="download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970" y="1464945"/>
            <a:ext cx="2174875" cy="10083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712970" y="2473325"/>
            <a:ext cx="3973830" cy="167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ExpressJS là một framework web nhẹ và linh hoạt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ợc xây dựng trên nền tảng</a:t>
            </a:r>
            <a:r>
              <a:rPr lang="vi-VN" alt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Node.js, hỗ trợ phát triển các ứng dụng web và API theo kiến trúc RESTful. ExpressJS</a:t>
            </a:r>
            <a:r>
              <a:rPr lang="vi-VN" alt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cung cấp các công cụ và cơ chế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ịnh tuyến giúp xử l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các yêu cầu HTTP một cách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ơn</a:t>
            </a:r>
            <a:r>
              <a:rPr lang="vi-VN" alt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giản và hiệu quả.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Picture 10" descr="download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85995"/>
            <a:ext cx="3522980" cy="9436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101465" y="4785995"/>
            <a:ext cx="41306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MongoDB là hệ quản trị cơ sở dữ liệu NoSQL, l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u trữ dữ liệu d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ới dạng tài</a:t>
            </a:r>
            <a:r>
              <a:rPr lang="vi-VN" alt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liệu (document). MongoDB phù hợp với các hệ thống có dữ liệu linh hoạt và th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ờngxuyên thay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ổi.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200" dirty="0">
                <a:latin typeface="Times New Roman" panose="02020603050405020304" charset="0"/>
                <a:cs typeface="Times New Roman" panose="02020603050405020304" charset="0"/>
              </a:rPr>
              <a:t>Phân tích, thiết kế và triển khai</a:t>
            </a:r>
            <a:endParaRPr lang="vi-VN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457200" y="1053465"/>
            <a:ext cx="8229600" cy="5073015"/>
          </a:xfrm>
        </p:spPr>
        <p:txBody>
          <a:bodyPr/>
          <a:lstStyle/>
          <a:p>
            <a:r>
              <a:rPr lang="vi-VN" sz="2000" b="1" dirty="0">
                <a:latin typeface="Times New Roman" panose="02020603050405020304" charset="0"/>
                <a:cs typeface="Times New Roman" panose="02020603050405020304" charset="0"/>
              </a:rPr>
              <a:t>Phân tích yêu cầu hệ thống</a:t>
            </a:r>
            <a:endParaRPr lang="vi-VN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vi-VN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769110"/>
            <a:ext cx="4076700" cy="341503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r>
              <a:rPr lang="vi-VN" altLang="en-US" sz="1600">
                <a:latin typeface="Times New Roman" panose="02020603050405020304" charset="0"/>
                <a:cs typeface="Times New Roman" panose="02020603050405020304" charset="0"/>
              </a:rPr>
              <a:t>Y</a:t>
            </a:r>
            <a:r>
              <a:rPr lang="vi-VN" altLang="en-US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Yêu cầu chức năng</a:t>
            </a:r>
            <a:endParaRPr lang="vi-V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vi-V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Người dùng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k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đă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nhập, cập nhật thông tin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Học flashcard theo chủ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ề/cấp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Luyện nói tiếng Anh bằng ghi âm, nhận diện giọng nói và phản hồi phát âm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Theo d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õ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 và thống kê tiến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ộ, kết quả và thời gian học tập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Quản trị viên 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uản l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tài khoản ng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dùng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b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ài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học,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nội dung luyện nói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và xem t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hống kê và báo cáo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94885" y="1769110"/>
            <a:ext cx="4076700" cy="341503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r>
              <a:rPr lang="vi-VN" altLang="en-US" sz="1600">
                <a:latin typeface="Times New Roman" panose="02020603050405020304" charset="0"/>
                <a:cs typeface="Times New Roman" panose="02020603050405020304" charset="0"/>
              </a:rPr>
              <a:t>Y</a:t>
            </a:r>
            <a:r>
              <a:rPr lang="vi-VN" altLang="en-US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Yêu cầu phi chức năng</a:t>
            </a:r>
            <a:endParaRPr lang="vi-V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Giao diện trực quan, thao tác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ơn giản cho học flashcard và luyện nói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giao diện quản trị r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õ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ràng.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Phản hồi nhanh khi học và luyện nói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xử l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nhận diện giọng nói ổn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ịnh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Xác thực JWT, phân quyền user/admin bảo vệ dữ liệu cá nhân và học tập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Hoạt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ộng ổn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ịnh trên trình duyệt phổ biến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 trữ dữ liệu an toàn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Kiến trúc Client–Serve</a:t>
            </a:r>
            <a:r>
              <a:rPr lang="vi-V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r,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dễ bổ sung bài học, flashcard, tính n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mới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Phân tích, thiết kế và triển khai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457200" y="1053465"/>
            <a:ext cx="8229600" cy="5073015"/>
          </a:xfrm>
        </p:spPr>
        <p:txBody>
          <a:bodyPr>
            <a:normAutofit lnSpcReduction="10000"/>
          </a:bodyPr>
          <a:lstStyle/>
          <a:p>
            <a:r>
              <a:rPr lang="vi-VN" sz="2000" b="1" dirty="0">
                <a:latin typeface="Times New Roman" panose="02020603050405020304" charset="0"/>
                <a:cs typeface="Times New Roman" panose="02020603050405020304" charset="0"/>
              </a:rPr>
              <a:t>Mô hình phân rã chức năng</a:t>
            </a:r>
            <a:endParaRPr lang="vi-V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vi-VN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150" y="966470"/>
            <a:ext cx="4106545" cy="52241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99770" y="1571625"/>
            <a:ext cx="4111625" cy="4561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Mô hình phân cấp chức 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ợc xây dựng nhằm chia hệ thống từ chức 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tổng quát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ến các chức 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chi tiết, giúp làm 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õ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phạm vi, nhiệm vụ và mối quan hệ giữa các thành phần trong hệ thống.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Phân tích, thiết kế và triển khai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4575"/>
            <a:ext cx="8229600" cy="5081905"/>
          </a:xfrm>
        </p:spPr>
        <p:txBody>
          <a:bodyPr/>
          <a:lstStyle/>
          <a:p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 Sơ 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ồ luồng dữ liệu</a:t>
            </a:r>
            <a:r>
              <a:rPr lang="vi-VN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dirty="0"/>
              <a:t> </a:t>
            </a:r>
            <a:endParaRPr lang="vi-VN" dirty="0"/>
          </a:p>
          <a:p>
            <a:pPr marL="457200" lvl="1" indent="457200">
              <a:buNone/>
            </a:pPr>
            <a:r>
              <a:rPr lang="vi-VN" altLang="en-US" sz="2000" dirty="0">
                <a:latin typeface="Times New Roman" panose="02020603050405020304" charset="0"/>
                <a:cs typeface="Times New Roman" panose="02020603050405020304" charset="0"/>
              </a:rPr>
              <a:t>- DFD mức 0</a:t>
            </a:r>
            <a:endParaRPr lang="vi-VN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vi-V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885" y="1957070"/>
            <a:ext cx="7119620" cy="20008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1225550" y="4018915"/>
            <a:ext cx="71329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Sơ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ồ luồng dữ liệu mức 0 mô tả hệ th</a:t>
            </a:r>
            <a:r>
              <a:rPr lang="vi-VN" altLang="en-US" sz="2000">
                <a:latin typeface="Times New Roman" panose="02020603050405020304" charset="0"/>
                <a:cs typeface="Times New Roman" panose="02020603050405020304" charset="0"/>
              </a:rPr>
              <a:t>ống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nh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một tiến trình duy nhất, thể hiện mối quan hệ trao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ổi dữ liệu giữa hệ thống và các tác nhân bên ngoài.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Phân tích, thiết kế và triển khai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6475"/>
            <a:ext cx="8229600" cy="5120005"/>
          </a:xfrm>
        </p:spPr>
        <p:txBody>
          <a:bodyPr/>
          <a:p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Sơ đồ luồng dữ liệu</a:t>
            </a:r>
            <a:r>
              <a:rPr lang="vi-VN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vi-VN" sz="2000" dirty="0">
                <a:sym typeface="+mn-ea"/>
              </a:rPr>
              <a:t> </a:t>
            </a:r>
            <a:endParaRPr lang="vi-VN" sz="2000" dirty="0"/>
          </a:p>
          <a:p>
            <a:pPr marL="457200" lvl="1" indent="457200">
              <a:buNone/>
            </a:pPr>
            <a:r>
              <a:rPr lang="vi-V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DFD mức 1</a:t>
            </a:r>
            <a:endParaRPr lang="vi-VN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1" indent="457200">
              <a:buNone/>
            </a:pPr>
            <a:endParaRPr lang="vi-V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vi-VN" altLang="en-US"/>
          </a:p>
        </p:txBody>
      </p:sp>
      <p:pic>
        <p:nvPicPr>
          <p:cNvPr id="18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90" y="1842135"/>
            <a:ext cx="8642350" cy="221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97655"/>
            <a:ext cx="8197215" cy="2158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Phân tích, thiết kế và triển khai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4730"/>
            <a:ext cx="8229600" cy="5111750"/>
          </a:xfrm>
        </p:spPr>
        <p:txBody>
          <a:bodyPr/>
          <a:p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Thiết kế cơ sở dữ liệu</a:t>
            </a:r>
            <a:endParaRPr lang="vi-V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vi-VN" alt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vi-V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7615" y="1491615"/>
            <a:ext cx="1558290" cy="22548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145" y="1569085"/>
            <a:ext cx="1537335" cy="17145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1569085"/>
            <a:ext cx="1369060" cy="14998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15" y="4453255"/>
            <a:ext cx="1466215" cy="16732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7445" y="4345940"/>
            <a:ext cx="1249680" cy="18884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680" y="4345940"/>
            <a:ext cx="1273175" cy="18637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95" y="1569085"/>
            <a:ext cx="1277620" cy="272605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9305" y="1569085"/>
            <a:ext cx="1607820" cy="229298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9410" y="4295140"/>
            <a:ext cx="1141095" cy="19399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060" y="4295140"/>
            <a:ext cx="1202690" cy="1957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Phân tích, thiết kế và triển khai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4730"/>
            <a:ext cx="8229600" cy="5111750"/>
          </a:xfrm>
        </p:spPr>
        <p:txBody>
          <a:bodyPr/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Mô hình ERD </a:t>
            </a:r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vi-V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1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493" y="1545273"/>
            <a:ext cx="5758815" cy="45231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Phân tích, thiết kế và triển khai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4730"/>
            <a:ext cx="8229600" cy="5111750"/>
          </a:xfrm>
        </p:spPr>
        <p:txBody>
          <a:bodyPr/>
          <a:p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Sơ đồ Usecase</a:t>
            </a:r>
            <a:endParaRPr lang="vi-V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70" y="1481455"/>
            <a:ext cx="2806700" cy="46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381760"/>
            <a:ext cx="3415665" cy="40938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Phân tích, thiết kế và triển khai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4730"/>
            <a:ext cx="8229600" cy="5111750"/>
          </a:xfrm>
        </p:spPr>
        <p:txBody>
          <a:bodyPr/>
          <a:p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</a:rPr>
              <a:t>Triển khai cài đặt</a:t>
            </a:r>
            <a:endParaRPr lang="vi-V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40740" y="1390650"/>
            <a:ext cx="7846060" cy="4853940"/>
          </a:xfrm>
          <a:prstGeom prst="rect">
            <a:avLst/>
          </a:prstGeom>
        </p:spPr>
        <p:txBody>
          <a:bodyPr>
            <a:noAutofit/>
          </a:bodyPr>
          <a:p>
            <a:pPr algn="just" defTabSz="266700">
              <a:lnSpc>
                <a:spcPct val="150000"/>
              </a:lnSpc>
            </a:pPr>
            <a:r>
              <a:rPr>
                <a:latin typeface="Times New Roman" panose="02020603050405020304"/>
                <a:ea typeface="SimSun" panose="02010600030101010101" pitchFamily="2" charset="-122"/>
              </a:rPr>
              <a:t>- Thiết lập môi trường Node.js, cài đặt các package cần thiết bằng npm.</a:t>
            </a:r>
            <a:endParaRPr>
              <a:latin typeface="Times New Roman" panose="02020603050405020304"/>
              <a:ea typeface="SimSun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r>
              <a:rPr>
                <a:latin typeface="Times New Roman" panose="02020603050405020304"/>
                <a:ea typeface="SimSun" panose="02010600030101010101" pitchFamily="2" charset="-122"/>
              </a:rPr>
              <a:t>- Tạo cơ sở dữ liệu với các bảng chính: Người dùng, thẻ Flashcards, thẻ yêu thích,...</a:t>
            </a:r>
            <a:endParaRPr>
              <a:latin typeface="Times New Roman" panose="02020603050405020304"/>
              <a:ea typeface="SimSun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r>
              <a:rPr>
                <a:latin typeface="Times New Roman" panose="02020603050405020304"/>
                <a:ea typeface="SimSun" panose="02010600030101010101" pitchFamily="2" charset="-122"/>
              </a:rPr>
              <a:t>- Cấu hình quyền truy cập cho user kết nối cơ sở dữ liệu.</a:t>
            </a:r>
            <a:endParaRPr>
              <a:latin typeface="Times New Roman" panose="02020603050405020304"/>
              <a:ea typeface="SimSun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r>
              <a:rPr>
                <a:latin typeface="Times New Roman" panose="02020603050405020304"/>
                <a:ea typeface="SimSun" panose="02010600030101010101" pitchFamily="2" charset="-122"/>
              </a:rPr>
              <a:t>- Build ứng dụng React và đưa toàn bộ mã nguồn lên server.</a:t>
            </a:r>
            <a:endParaRPr>
              <a:latin typeface="Times New Roman" panose="02020603050405020304"/>
              <a:ea typeface="SimSun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r>
              <a:rPr>
                <a:latin typeface="Times New Roman" panose="02020603050405020304"/>
                <a:ea typeface="SimSun" panose="02010600030101010101" pitchFamily="2" charset="-122"/>
              </a:rPr>
              <a:t>- Kết nối frontend React với backend Node.js thông qua các endpoint RESTful API.</a:t>
            </a:r>
            <a:endParaRPr>
              <a:latin typeface="Times New Roman" panose="02020603050405020304"/>
              <a:ea typeface="SimSun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r>
              <a:rPr>
                <a:latin typeface="Times New Roman" panose="02020603050405020304"/>
                <a:ea typeface="SimSun" panose="02010600030101010101" pitchFamily="2" charset="-122"/>
              </a:rPr>
              <a:t>- Triển khai các module chính:</a:t>
            </a:r>
            <a:r>
              <a:rPr>
                <a:latin typeface="SimSun" panose="02010600030101010101" pitchFamily="2" charset="-122"/>
                <a:ea typeface="SimSun" panose="02010600030101010101" pitchFamily="2" charset="-122"/>
              </a:rPr>
              <a:t>  </a:t>
            </a:r>
            <a:endParaRPr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r>
              <a:rPr lang="vi-VN" b="1">
                <a:latin typeface="Times New Roman" panose="02020603050405020304"/>
                <a:ea typeface="SimSun" panose="02010600030101010101" pitchFamily="2" charset="-122"/>
              </a:rPr>
              <a:t>     </a:t>
            </a:r>
            <a:r>
              <a:rPr b="1">
                <a:latin typeface="Times New Roman" panose="02020603050405020304"/>
                <a:ea typeface="SimSun" panose="02010600030101010101" pitchFamily="2" charset="-122"/>
              </a:rPr>
              <a:t>+ Module Flashcard:</a:t>
            </a:r>
            <a:r>
              <a:rPr>
                <a:latin typeface="Times New Roman" panose="02020603050405020304"/>
                <a:ea typeface="SimSun" panose="02010600030101010101" pitchFamily="2" charset="-122"/>
              </a:rPr>
              <a:t> Hiển thị từ vựng, nghĩa, ví dụ và hình ảnh minh họa; cho phép người dùng đánh giá mức độ nhớ.</a:t>
            </a:r>
            <a:endParaRPr>
              <a:latin typeface="Times New Roman" panose="02020603050405020304"/>
              <a:ea typeface="SimSun" panose="02010600030101010101" pitchFamily="2" charset="-122"/>
            </a:endParaRPr>
          </a:p>
          <a:p>
            <a:pPr algn="just" defTabSz="266700">
              <a:lnSpc>
                <a:spcPct val="150000"/>
              </a:lnSpc>
            </a:pPr>
            <a:r>
              <a:rPr lang="vi-VN" b="1">
                <a:latin typeface="Times New Roman" panose="02020603050405020304"/>
                <a:ea typeface="SimSun" panose="02010600030101010101" pitchFamily="2" charset="-122"/>
              </a:rPr>
              <a:t>     </a:t>
            </a:r>
            <a:r>
              <a:rPr b="1">
                <a:latin typeface="Times New Roman" panose="02020603050405020304"/>
                <a:ea typeface="SimSun" panose="02010600030101010101" pitchFamily="2" charset="-122"/>
              </a:rPr>
              <a:t>+ Module Nhận diện giọng nói:</a:t>
            </a:r>
            <a:r>
              <a:rPr>
                <a:latin typeface="Times New Roman" panose="02020603050405020304"/>
                <a:ea typeface="SimSun" panose="02010600030101010101" pitchFamily="2" charset="-122"/>
              </a:rPr>
              <a:t> Cho phép người học luyện phát âm và nhận phản hồi trực tiếp từ Web Speech API.</a:t>
            </a:r>
            <a:endParaRPr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Kết quả giao diện chức n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ng hệ thống</a:t>
            </a:r>
            <a:endParaRPr lang="en-US" alt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457200" y="1033780"/>
            <a:ext cx="8229600" cy="5092700"/>
          </a:xfrm>
        </p:spPr>
        <p:txBody>
          <a:bodyPr/>
          <a:lstStyle/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</p:txBody>
      </p:sp>
      <p:pic>
        <p:nvPicPr>
          <p:cNvPr id="20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25" y="1959610"/>
            <a:ext cx="7048500" cy="35045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841375" y="1226820"/>
            <a:ext cx="4544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Giao diện trang giới thiệu hệ </a:t>
            </a:r>
            <a:r>
              <a:rPr lang="vi-VN" altLang="en-US"/>
              <a:t>thống</a:t>
            </a:r>
            <a:endParaRPr lang="vi-V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Kết quả giao diện chức n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ng hệ thống</a:t>
            </a:r>
            <a:endParaRPr lang="en-US" alt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457200" y="1033780"/>
            <a:ext cx="8229600" cy="5092700"/>
          </a:xfrm>
        </p:spPr>
        <p:txBody>
          <a:bodyPr/>
          <a:lstStyle/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</p:txBody>
      </p:sp>
      <p:sp>
        <p:nvSpPr>
          <p:cNvPr id="4" name="Text Box 3"/>
          <p:cNvSpPr txBox="1"/>
          <p:nvPr/>
        </p:nvSpPr>
        <p:spPr>
          <a:xfrm>
            <a:off x="841375" y="1226820"/>
            <a:ext cx="4544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Giao diện trang chủ người </a:t>
            </a:r>
            <a:r>
              <a:rPr lang="vi-VN" altLang="en-US"/>
              <a:t>dùng</a:t>
            </a:r>
            <a:endParaRPr lang="vi-V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1777365"/>
            <a:ext cx="8184515" cy="40906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Kết quả giao diện chức n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ng hệ thống</a:t>
            </a:r>
            <a:endParaRPr lang="en-US" alt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457200" y="1033780"/>
            <a:ext cx="8229600" cy="5092700"/>
          </a:xfrm>
        </p:spPr>
        <p:txBody>
          <a:bodyPr/>
          <a:lstStyle/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</p:txBody>
      </p:sp>
      <p:sp>
        <p:nvSpPr>
          <p:cNvPr id="4" name="Text Box 3"/>
          <p:cNvSpPr txBox="1"/>
          <p:nvPr/>
        </p:nvSpPr>
        <p:spPr>
          <a:xfrm>
            <a:off x="841375" y="1226820"/>
            <a:ext cx="4544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Giao diện trang chủ </a:t>
            </a:r>
            <a:r>
              <a:rPr lang="vi-VN" altLang="en-US"/>
              <a:t>admin</a:t>
            </a:r>
            <a:endParaRPr lang="vi-V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20" y="1804670"/>
            <a:ext cx="7935595" cy="39509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</a:t>
            </a:r>
            <a:r>
              <a:rPr lang="vi-VN" dirty="0"/>
              <a:t>LUẬN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140335" y="1062990"/>
            <a:ext cx="8938895" cy="5063490"/>
          </a:xfrm>
        </p:spPr>
        <p:txBody>
          <a:bodyPr/>
          <a:lstStyle/>
          <a:p>
            <a:pPr marL="0" indent="0">
              <a:buNone/>
            </a:pPr>
            <a:endParaRPr lang="vi-VN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184275"/>
            <a:ext cx="4076700" cy="217741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just">
              <a:lnSpc>
                <a:spcPct val="100000"/>
              </a:lnSpc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1. Kết quả 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ạt 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ợc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Hệ thống Web học tiếng Anh bằng Flashcard kết hợp luyện nói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ã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ợc thiết kế, cài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ặt và triển khai hoàn chỉnh, hoạt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ộng ổn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ịnh và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áp ứng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ầy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ủ các mục tiêu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ề ra của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ồ án.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795520" y="1184275"/>
            <a:ext cx="4076700" cy="217741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 Chức n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chính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Hệ thống cung cấp các chức n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cốt l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õ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 nh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quản l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ng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dùng, quản l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flashcard, luyện phát âm thông qua Web Speech API và thống kê tiến trình học tập, giúp ng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học tiếp cận từ vựng và luyện phát âm hiệu quả.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95300" y="3738245"/>
            <a:ext cx="4076700" cy="191643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3. Trải nghiệm ng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dùng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Giao diện trực quan, thân thiện; các module hoạt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ộng m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ợt mà, hỗ trợ ng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học thao tác dễ dàng và tối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 hóa trải nghiệm học tập.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95520" y="3738245"/>
            <a:ext cx="4076700" cy="191643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4. Hiệu n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và kỹ thuật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Hệ thống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ảm bảo hiệu n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và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 ổn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ịnh cao, xử l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nhanh các yêu cầu từ frontend React.js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ến backend Node.js, dữ liệu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ợc l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 trữ và truy xuất chính xác từ cơ sở dữ liệu.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Hướng phát </a:t>
            </a:r>
            <a:r>
              <a:rPr lang="vi-VN" dirty="0"/>
              <a:t>triển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140335" y="1062990"/>
            <a:ext cx="8938895" cy="5063490"/>
          </a:xfrm>
        </p:spPr>
        <p:txBody>
          <a:bodyPr/>
          <a:lstStyle/>
          <a:p>
            <a:pPr marL="0" indent="0">
              <a:buNone/>
            </a:pPr>
            <a:endParaRPr lang="vi-VN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184275"/>
            <a:ext cx="4076700" cy="217741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just">
              <a:lnSpc>
                <a:spcPct val="100000"/>
              </a:lnSpc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1. Mở rộng nội dung học tập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Hệ thống có thể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ợc nâng cấp bằng cách mở rộng bộ từ vựng nhằm giúp ng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học nâng cao vốn từ vựng từ cơ bản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ến nâng cao,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áp ứng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dạng nhu cầu học tập.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795520" y="1184275"/>
            <a:ext cx="4076700" cy="217741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 Nâng cấp luyện phát âm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 luyện phát âm có thể tích hợp các công nghệ nhận diện giọng nói tiên tiến hơn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ể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ánh giá chi tiết phát âm, ngữ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iệu, tốc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 và trọng âm, từ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ó cung cấp phản hồi chính xác và hiệu quả hơn cho ng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học.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95300" y="3738245"/>
            <a:ext cx="4076700" cy="219392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3. T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c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ờng 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ộng lực học tập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Hệ thống có thể bổ sung các yếu tố gamification nh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iểm th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ởng, huy hiệu và bảng xếp hạng nhằm t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tính t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ơng tác, tạo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ộng lực và duy trì hứng thú học tập cho ng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dùng.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95520" y="3738245"/>
            <a:ext cx="4076700" cy="21920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4. Phát triển 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nền tảng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Việc xây dựng phiên bản di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ộng trên iOS và Android giúp ng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ời học tiếp cận hệ thống mọi lúc, mọi nơi,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ồng thời hỗ trợ học theo chủ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ề với hình ảnh, âm thanh và video minh họa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ể t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khả n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ng ghi nhớ.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vi-VN" dirty="0"/>
          </a:p>
          <a:p>
            <a:pPr marL="0" indent="0" algn="ctr">
              <a:buNone/>
            </a:pPr>
            <a:endParaRPr lang="vi-VN" dirty="0"/>
          </a:p>
          <a:p>
            <a:pPr marL="0" indent="0" algn="ctr">
              <a:buNone/>
            </a:pPr>
            <a:endParaRPr lang="vi-VN" dirty="0"/>
          </a:p>
          <a:p>
            <a:pPr marL="0" indent="0" algn="ctr">
              <a:buNone/>
            </a:pPr>
            <a:r>
              <a:rPr lang="vi-VN" sz="3600" b="1" dirty="0">
                <a:solidFill>
                  <a:srgbClr val="00B050"/>
                </a:solidFill>
              </a:rPr>
              <a:t>Cảm ơn </a:t>
            </a:r>
            <a:r>
              <a:rPr lang="vi-VN" sz="3600" b="1" dirty="0">
                <a:solidFill>
                  <a:srgbClr val="00B050"/>
                </a:solidFill>
              </a:rPr>
              <a:t>quý Thầy </a:t>
            </a:r>
            <a:r>
              <a:rPr lang="vi-VN" sz="3600" b="1" dirty="0">
                <a:solidFill>
                  <a:srgbClr val="00B050"/>
                </a:solidFill>
              </a:rPr>
              <a:t>Cô và các bạn đã lắng nghe bài thuyết trình</a:t>
            </a:r>
            <a:endParaRPr lang="vi-VN" sz="36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8399</Words>
  <Application>WPS Presentation</Application>
  <PresentationFormat>Trình chiếu Trên màn hình (4:3)</PresentationFormat>
  <Paragraphs>203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SimSun</vt:lpstr>
      <vt:lpstr>Wingdings</vt:lpstr>
      <vt:lpstr>Arial</vt:lpstr>
      <vt:lpstr>Times New Roman</vt:lpstr>
      <vt:lpstr>Times New Roman</vt:lpstr>
      <vt:lpstr>Times New Roman Bold</vt:lpstr>
      <vt:lpstr>Calibri</vt:lpstr>
      <vt:lpstr>Microsoft YaHei</vt:lpstr>
      <vt:lpstr>Arial Unicode MS</vt:lpstr>
      <vt:lpstr>Office Theme</vt:lpstr>
      <vt:lpstr>XÂY DỰNG WEBSITE HỌC TIẾNG ANH BẰNG FLASHCARD KẾT HỢP LUYỆN NÓI</vt:lpstr>
      <vt:lpstr>LÝ DO CHỌN ĐỀ TÀI</vt:lpstr>
      <vt:lpstr>MỤC ĐÍCH NGHIÊN CỨU</vt:lpstr>
      <vt:lpstr>ĐỐI TƯỢNG NGHIÊN CỨU</vt:lpstr>
      <vt:lpstr>PHẠM VI NGHIÊN CỨU</vt:lpstr>
      <vt:lpstr>TỔNG QUAN VỀ PHƯƠNG PHÁP HỌC TỪ VỰNG BẰNG FLASHCARD</vt:lpstr>
      <vt:lpstr>TỔNG QUAN VỀ LUYỆN NÓI TRONG VIỆC HỌC TIẾNG ANH</vt:lpstr>
      <vt:lpstr>CÁC CÔNG NGHỆ LẬP TRÌNH SỬ DỤNG</vt:lpstr>
      <vt:lpstr>CÁC CÔNG NGHỆ LẬP TRÌNH SỬ DỤNG</vt:lpstr>
      <vt:lpstr>Phân tích, thiết kế và triển khai</vt:lpstr>
      <vt:lpstr>Phân tích, thiết kế và triển khai</vt:lpstr>
      <vt:lpstr>Phân tích, thiết kế và triển khai</vt:lpstr>
      <vt:lpstr>Phân tích, thiết kế và triển khai</vt:lpstr>
      <vt:lpstr>Phân tích, thiết kế và triển khai</vt:lpstr>
      <vt:lpstr>Phân tích, thiết kế và triển khai</vt:lpstr>
      <vt:lpstr>Phân tích, thiết kế và triển khai</vt:lpstr>
      <vt:lpstr>Phân tích, thiết kế và triển khai</vt:lpstr>
      <vt:lpstr>Kết quả giao diện chức năng hệ thống</vt:lpstr>
      <vt:lpstr>Kết quả giao diện chức năng hệ thống</vt:lpstr>
      <vt:lpstr>Kết quả giao diện chức năng hệ thống</vt:lpstr>
      <vt:lpstr>KẾT LUẬN</vt:lpstr>
      <vt:lpstr>Hướng phát triển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QUẢN LÝ DỰ ÁN PHẦN MỀM</dc:title>
  <dc:creator>Khac Quoc</dc:creator>
  <dc:description>generated using python-pptx</dc:description>
  <cp:lastModifiedBy>Hphi Nguyễn</cp:lastModifiedBy>
  <cp:revision>18</cp:revision>
  <dcterms:created xsi:type="dcterms:W3CDTF">2013-01-27T09:14:00Z</dcterms:created>
  <dcterms:modified xsi:type="dcterms:W3CDTF">2026-01-08T21:41:37Z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01CD2FCEB2D04778B566F11A0AD9A36F_13</vt:lpwstr>
  </property>
  <property fmtid="{D5CDD505-2E9C-101B-9397-08002B2CF9AE}" pid="3" name="KSOProductBuildVer">
    <vt:lpwstr>1033-12.2.0.23196</vt:lpwstr>
  </property>
</Properties>
</file>